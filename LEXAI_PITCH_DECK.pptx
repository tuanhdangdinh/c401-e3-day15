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5120640" cy="66934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B88A1A"/>
                </a:solidFill>
                <a:latin typeface="Calibri"/>
              </a:rPr>
              <a:t>⚖  LexAI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Legal Contract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4389120" cy="1905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Hệ Thống Multi-Agent
Thẩm Định Hợp Đồng Pháp Lý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ECC"/>
                </a:solidFill>
                <a:latin typeface="Calibri"/>
              </a:rPr>
              <a:t>"Chúng tôi không xây dựng chatbot.
Chúng tôi xây dựng compliance
infrastructure mà ngành luật
buộc phải có."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8AA"/>
                </a:solidFill>
                <a:latin typeface="Calibri"/>
              </a:rPr>
              <a:t>2026  ·  Seed 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02920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576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Kiến trúc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90525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Multi-Agent Level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1325880"/>
            <a:ext cx="5943600" cy="63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490472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1563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Lĩnh vực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18928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LegalTech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2313432"/>
            <a:ext cx="5943600" cy="63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2478024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2551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Giai đoạn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0992" y="28803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Seed Round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3300984"/>
            <a:ext cx="5943600" cy="63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3465576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3538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Kêu gọi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386791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$250,000 USD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4288536"/>
            <a:ext cx="5943600" cy="63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4453128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TAM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0992" y="485546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$23 Tỷ USD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5276088"/>
            <a:ext cx="5943600" cy="635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5440680"/>
            <a:ext cx="6309360" cy="86868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5513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Gross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584301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~42x / hợp đồng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Ngành Pháp Lý Đang Đối Mặt Với 4 Nỗi Đau Nghiêm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Vấn đề đủ lớn, đủ đau, và hoàn toàn đo lường được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72768"/>
            <a:ext cx="557784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577840" cy="9144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😓  Lãng phí thời gian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3–8 giờ / hợp đồng cho first-pass review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Junior associates làm việc lặp lại, không cần phán đoán cấp cao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ROI âm rõ ràng trên mỗi giờ lao động lặp lại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572768"/>
            <a:ext cx="557784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572768"/>
            <a:ext cx="5577840" cy="9144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7373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💸  Chi phí nhân sự khổng lồ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$166M / năm lãng phí tại mỗi công ty luật quy mô trung bình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Chi phí của sự tẻ nhạt — không phải chi phí chiến lược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Big Law dùng technology để cạnh tranh, mid-size vẫn dùng người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77639"/>
            <a:ext cx="557784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977639"/>
            <a:ext cx="5577840" cy="9144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42231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📄  Contract vượt ngưỡng con người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M&amp;A contracts: 500+ trang ≈ 2M tokens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Con người đọc tuyến tính — hidden risk ở trang 347 bị bỏ qua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Không có tool nào đọc toàn bộ và retain context đầy đủ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977639"/>
            <a:ext cx="5577840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977639"/>
            <a:ext cx="5577840" cy="9144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142231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☠️  AI thông thường quá nguy hiểm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Hallucinated clause = luật sư bị kỷ luật bởi Bar Association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Fake case citation = malpractice suit hàng triệu đô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E4E62"/>
                </a:solidFill>
                <a:latin typeface="Calibri"/>
              </a:rPr>
              <a:t>▸  Legal industry không có chỗ cho AI được phép 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LexAI: 4-Agent Pipeline — Dưới 3 Phút /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Không phải chatbot — là một đội ngũ AI specialist làm việc song song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670048" cy="4800600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2670048" cy="128016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719072"/>
            <a:ext cx="530352" cy="530352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1907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Extraction
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23957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Đọc toàn bộ contract
Bóc tách dates, amounts,
parties liên quan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73168"/>
            <a:ext cx="2395728" cy="530352"/>
          </a:xfrm>
          <a:prstGeom prst="rect">
            <a:avLst/>
          </a:prstGeom>
          <a:solidFill>
            <a:srgbClr val="E6ECF4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4809744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9E5C"/>
                </a:solidFill>
                <a:latin typeface="Calibri"/>
              </a:rPr>
              <a:t>Claude Haiku
Fast · Low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520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88A1A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572768"/>
            <a:ext cx="2670048" cy="4800600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572768"/>
            <a:ext cx="2670048" cy="128016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55848" y="1719072"/>
            <a:ext cx="530352" cy="530352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171907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1737360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Risk Scoring
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87168"/>
            <a:ext cx="23957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So sánh clauses với
company Playbook
Flag violations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773168"/>
            <a:ext cx="2395728" cy="530352"/>
          </a:xfrm>
          <a:prstGeom prst="rect">
            <a:avLst/>
          </a:prstGeom>
          <a:solidFill>
            <a:srgbClr val="E6ECF4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4809744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9A"/>
                </a:solidFill>
                <a:latin typeface="Calibri"/>
              </a:rPr>
              <a:t>Claude Sonnet
Balanced · Accurate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520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88A1A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572768"/>
            <a:ext cx="2670048" cy="480060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572768"/>
            <a:ext cx="2670048" cy="128016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8" y="1719072"/>
            <a:ext cx="530352" cy="53035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171907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1737360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Redline Drafter
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487168"/>
            <a:ext cx="23957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Viết lại risky clauses
bằng counter-language
bảo vệ quyền lợi client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773168"/>
            <a:ext cx="2395728" cy="530352"/>
          </a:xfrm>
          <a:prstGeom prst="rect">
            <a:avLst/>
          </a:prstGeom>
          <a:solidFill>
            <a:srgbClr val="E6ECF4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809744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A1A"/>
                </a:solidFill>
                <a:latin typeface="Calibri"/>
              </a:rPr>
              <a:t>Claude Opus
Chỉ khi risk score &gt; 7/10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3520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88A1A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1572768"/>
            <a:ext cx="2670048" cy="4800600"/>
          </a:xfrm>
          <a:prstGeom prst="rect">
            <a:avLst/>
          </a:prstGeom>
          <a:solidFill>
            <a:srgbClr val="F3F6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1572768"/>
            <a:ext cx="2670048" cy="12801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08008" y="1719072"/>
            <a:ext cx="530352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08008" y="1719072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8" y="1737360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Citation Verifier
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487168"/>
            <a:ext cx="239572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Cross-check 100% legal citations
với legal database chính thống
→ Hard gate — không bypass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4773168"/>
            <a:ext cx="2395728" cy="530352"/>
          </a:xfrm>
          <a:prstGeom prst="rect">
            <a:avLst/>
          </a:prstGeom>
          <a:solidFill>
            <a:srgbClr val="E6ECF4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4809744"/>
            <a:ext cx="2258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Haiku + Legal API
Mandatory — no exceptions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3CC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🏆  Agent ④ là hard gate — không có citation nào được phát ra nếu chưa verified bởi legal database chính thống. Đây là moat mà không competitor nào hiện có.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Market Opportunity $23 Tỷ — Vẫn Chưa Có Solution Đủ An Toàn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TAM đủ lớn, timing đúng, vị trí LexAI rõ ràng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5120640"/>
          </a:xfrm>
          <a:prstGeom prst="rect">
            <a:avLst/>
          </a:prstGeom>
          <a:solidFill>
            <a:srgbClr val="0D1B2A"/>
          </a:solidFill>
          <a:ln w="254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508406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$23 Tỷ
Total Addressable Market
LegalTech toàn cầu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965960"/>
            <a:ext cx="3749039" cy="3931920"/>
          </a:xfrm>
          <a:prstGeom prst="rect">
            <a:avLst/>
          </a:prstGeom>
          <a:solidFill>
            <a:srgbClr val="162E4A"/>
          </a:solidFill>
          <a:ln w="254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075688"/>
            <a:ext cx="3529583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$8 Tỷ
Contract Review
&amp;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743200"/>
            <a:ext cx="2194560" cy="2377440"/>
          </a:xfrm>
          <a:prstGeom prst="rect">
            <a:avLst/>
          </a:prstGeom>
          <a:solidFill>
            <a:srgbClr val="1A3E5C"/>
          </a:solidFill>
          <a:ln w="254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852928"/>
            <a:ext cx="1975104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LexAI
Year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2A"/>
                </a:solidFill>
                <a:latin typeface="Calibri"/>
              </a:rPr>
              <a:t>Why Now?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5669280" cy="2540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011680"/>
            <a:ext cx="5669280" cy="1353312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12140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📜  Regulatory pressure đang tăng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523744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AI Act (EU), SEC AI Guidance (US) — audit trail cho AI sẽ sớm là mandatory. LexAI built to that standard từ ngày đầu.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493008"/>
            <a:ext cx="5669280" cy="1353312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602736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🏢  Mid-size law firms cần 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005072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Họ không thể compete với Big Law bằng headcount. Họ cần technology — và sẵn sàng pay cho solution thực sự safe.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974336"/>
            <a:ext cx="5669280" cy="1353312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5084064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⚡  Clear market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5486400"/>
            <a:ext cx="5349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Không competitor nào kết hợp được: multi-agent speed + hard citation gate + on-premise data security cùng lúc.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Hybrid Deployment Architecture: 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Sensitive data không bao giờ rời khỏi internal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4206240" cy="4663440"/>
          </a:xfrm>
          <a:prstGeom prst="rect">
            <a:avLst/>
          </a:prstGeom>
          <a:solidFill>
            <a:srgbClr val="0D1B2A"/>
          </a:solidFill>
          <a:ln w="254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4206240" cy="420624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🏢  ON-PREMISE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3749039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0428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📂  Contract ingestion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54096"/>
            <a:ext cx="3749039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8211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📋  Playbook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749039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5993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👨‍💼  HITL review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9744"/>
            <a:ext cx="3749039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937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🗄️  Immutable audit 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572768"/>
            <a:ext cx="4434840" cy="4663440"/>
          </a:xfrm>
          <a:prstGeom prst="rect">
            <a:avLst/>
          </a:prstGeom>
          <a:solidFill>
            <a:srgbClr val="F3F6FA"/>
          </a:solidFill>
          <a:ln w="254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572768"/>
            <a:ext cx="4434840" cy="420624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159105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☁️  PRIVATE CLOUD (High Security)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176272"/>
            <a:ext cx="40690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89520" y="2176272"/>
            <a:ext cx="91440" cy="73152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230428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①  Extraction Agent  (Haiku)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054096"/>
            <a:ext cx="40690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3054096"/>
            <a:ext cx="91440" cy="73152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318211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②  Risk Scoring Agent  (Sonnet)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931920"/>
            <a:ext cx="40690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931920"/>
            <a:ext cx="91440" cy="73152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405993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③  Redline Drafter  (Opus, if risk &gt; 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809744"/>
            <a:ext cx="406908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4809744"/>
            <a:ext cx="9144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49377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④  Citation Verifier  (Haiku + Legal API)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242316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88A1A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30098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88A1A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417880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88A1A"/>
                </a:solidFill>
                <a:latin typeface="Calibri"/>
              </a:rPr>
              <a:t>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505663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88A1A"/>
                </a:solidFill>
                <a:latin typeface="Calibri"/>
              </a:rPr>
              <a:t>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080760"/>
            <a:ext cx="11430000" cy="621792"/>
          </a:xfrm>
          <a:prstGeom prst="rect">
            <a:avLst/>
          </a:prstGeom>
          <a:solidFill>
            <a:srgbClr val="FFF3CC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09904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⚠️  Tại sao KHÔNG pure public cloud:  ① Attorney-client privilege — contract mất privilege nếu transit qua public endpoint  ② Audit requirement — regulators (Bar, SEC) yêu cầu immutable on-site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Cost Anatomy: Từng Đồng Được Tính Toán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Full transparency — từ token cost đến gross margin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4791456" cy="4663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64208"/>
            <a:ext cx="46634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Pipeline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572768"/>
            <a:ext cx="3602736" cy="4663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3248" y="1664208"/>
            <a:ext cx="3474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Cost Driver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572768"/>
            <a:ext cx="2551176" cy="46634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664208"/>
            <a:ext cx="24231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Cost /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39112"/>
            <a:ext cx="479145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130552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Extraction Agent  (Haiku, 120K tokens in)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039112"/>
            <a:ext cx="360273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2130552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Token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039112"/>
            <a:ext cx="255117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2130552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~$0.04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05456"/>
            <a:ext cx="479145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596896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Risk Scoring Agent  (Sonnet, 120K in+2K out)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505456"/>
            <a:ext cx="360273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2596896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Token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505456"/>
            <a:ext cx="255117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596896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~$0.43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479145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063240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Redline Drafter  (Opus, 40K in+8K out)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2971800"/>
            <a:ext cx="360273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3248" y="3063240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Token cost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971800"/>
            <a:ext cx="255117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3063240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~$2.10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38144"/>
            <a:ext cx="479145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529584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Citation Verifier  (Haiku + Legal API)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438144"/>
            <a:ext cx="360273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3248" y="3529584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Token + API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438144"/>
            <a:ext cx="255117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3529584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~$0.80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04488"/>
            <a:ext cx="479145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995928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Storage  (contract + audit log, 3 yr)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3904488"/>
            <a:ext cx="360273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3995928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Cloud storage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904488"/>
            <a:ext cx="2551176" cy="466344"/>
          </a:xfrm>
          <a:prstGeom prst="rect">
            <a:avLst/>
          </a:prstGeom>
          <a:solidFill>
            <a:srgbClr val="F3F6FA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3995928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~$0.01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70832"/>
            <a:ext cx="479145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4462272"/>
            <a:ext cx="464515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HITL review platform  (amortized)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4370832"/>
            <a:ext cx="360273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13248" y="4462272"/>
            <a:ext cx="345643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Engineering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4370832"/>
            <a:ext cx="2551176" cy="466344"/>
          </a:xfrm>
          <a:prstGeom prst="rect">
            <a:avLst/>
          </a:prstGeom>
          <a:solidFill>
            <a:srgbClr val="E6EC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4462272"/>
            <a:ext cx="2404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~$0.15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837176"/>
            <a:ext cx="4791456" cy="466344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910328"/>
            <a:ext cx="464515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✅  Total operating cost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4837176"/>
            <a:ext cx="3602736" cy="466344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3248" y="4910328"/>
            <a:ext cx="3456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837176"/>
            <a:ext cx="2551176" cy="466344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62288" y="4910328"/>
            <a:ext cx="240487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~$3.53 / contract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715000"/>
            <a:ext cx="3767328" cy="987552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715000"/>
            <a:ext cx="3767328" cy="10972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83387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MVP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163056"/>
            <a:ext cx="34930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660 contracts / month  ·  $3,530 / mo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24528" y="5715000"/>
            <a:ext cx="3767328" cy="987552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24528" y="5715000"/>
            <a:ext cx="3767328" cy="10972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61688" y="583387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8A1A"/>
                </a:solidFill>
                <a:latin typeface="Calibri"/>
              </a:rPr>
              <a:t>Growth  5x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61688" y="6163056"/>
            <a:ext cx="34930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3,300 contracts / month  ·  $15,150 / mo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83296" y="5715000"/>
            <a:ext cx="3767328" cy="987552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83296" y="5715000"/>
            <a:ext cx="3767328" cy="109728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0456" y="583387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E9A"/>
                </a:solidFill>
                <a:latin typeface="Calibri"/>
              </a:rPr>
              <a:t>Scale  10x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0456" y="6163056"/>
            <a:ext cx="34930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6,600 contracts / month  ·  $24,000 / mo*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3 Cost Optimization Strategies: Tiết Kiệm 65–70% Không Trade-off Chất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Mỗi strategy có target, benefit và timing rõ ràng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3822191" cy="5074920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685800" cy="6858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72768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64592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9E5C"/>
                </a:solidFill>
                <a:latin typeface="Calibri"/>
              </a:rPr>
              <a:t>Model 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331720"/>
            <a:ext cx="3520440" cy="347472"/>
          </a:xfrm>
          <a:prstGeom prst="rect">
            <a:avLst/>
          </a:prstGeom>
          <a:solidFill>
            <a:srgbClr val="E6ECF4"/>
          </a:solidFill>
          <a:ln w="9525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350008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9E5C"/>
                </a:solidFill>
                <a:latin typeface="Calibri"/>
              </a:rPr>
              <a:t>⏱  Apply: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78892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Extraction  →  Haiku   (cheap, fast)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310127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Risk Scoring →  Sonnet  (balanced)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31334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Redline      →  Opus    ONLY if risk &gt; 7/10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4462272"/>
            <a:ext cx="3520440" cy="6583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80560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Tiết kiệm 65–70%
tổng token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52120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8AA"/>
                </a:solidFill>
                <a:latin typeface="Calibri"/>
              </a:rPr>
              <a:t>Trade-off: Cần routing logic
trong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1" y="1572768"/>
            <a:ext cx="3822191" cy="5074920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1" y="1572768"/>
            <a:ext cx="685800" cy="68580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1" y="1572768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1" y="164592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E9A"/>
                </a:solidFill>
                <a:latin typeface="Calibri"/>
              </a:rPr>
              <a:t>Hierarchical Chunking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2271" y="2331720"/>
            <a:ext cx="3520440" cy="347472"/>
          </a:xfrm>
          <a:prstGeom prst="rect">
            <a:avLst/>
          </a:prstGeom>
          <a:solidFill>
            <a:srgbClr val="E6ECF4"/>
          </a:solidFill>
          <a:ln w="9525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1" y="2350008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E9A"/>
                </a:solidFill>
                <a:latin typeface="Calibri"/>
              </a:rPr>
              <a:t>⏱  Apply: 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3" y="278892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Chunk contract theo clause/section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3" y="3310127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Không chunk theo fixed token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3" y="3831334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Boilerplate sections → fast-path sau 100 contracts đầu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1" y="4462272"/>
            <a:ext cx="3520440" cy="658368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1" y="4480560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Giảm ~40%
input tokens /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3" y="52120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8AA"/>
                </a:solidFill>
                <a:latin typeface="Calibri"/>
              </a:rPr>
              <a:t>Trade-off: Random audit 5%
để catch hidden non-standard clauses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02750" y="1572768"/>
            <a:ext cx="3822191" cy="507492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02750" y="1572768"/>
            <a:ext cx="685800" cy="68580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0" y="1572768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0" y="164592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88A1A"/>
                </a:solidFill>
                <a:latin typeface="Calibri"/>
              </a:rPr>
              <a:t>Semantic Caching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0" y="2331720"/>
            <a:ext cx="3520440" cy="347472"/>
          </a:xfrm>
          <a:prstGeom prst="rect">
            <a:avLst/>
          </a:prstGeom>
          <a:solidFill>
            <a:srgbClr val="E6ECF4"/>
          </a:solidFill>
          <a:ln w="9525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0" y="2350008"/>
            <a:ext cx="3337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8A1A"/>
                </a:solidFill>
                <a:latin typeface="Calibri"/>
              </a:rPr>
              <a:t>⏱  Apply: After 1,000+ contracts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2" y="2788920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&gt;60% contracts có clauses gần giống nhau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2" y="3310127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Dùng vector similarity (cosine &gt; 0.95) để detect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2" y="3831334"/>
            <a:ext cx="3520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▸  Serve cached risk scores — không gọi lại LLM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0" y="4462272"/>
            <a:ext cx="3520440" cy="65836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0" y="4480560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Loại ~30%
Sonnet calls at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2" y="521208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8AA"/>
                </a:solidFill>
                <a:latin typeface="Calibri"/>
              </a:rPr>
              <a:t>Trade-off: Cache invalidation
khi Playbook được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Reliability &amp; Scaling: Designed For Zero Tolerance on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3 failure scenarios được plan trước — system không bao giờ để lawyer blind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35204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64208"/>
            <a:ext cx="3355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Failure Scenario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572768"/>
            <a:ext cx="38862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7" y="1664208"/>
            <a:ext cx="3721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Immediate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572768"/>
            <a:ext cx="38587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664208"/>
            <a:ext cx="3694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Long-term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3520440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21408"/>
            <a:ext cx="73152" cy="11155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31136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⚡  Traffic spike 10x
(M&amp;A season peak load)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2121408"/>
            <a:ext cx="3886200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1" y="2231136"/>
            <a:ext cx="3630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Return async job ID
Notify via email when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121408"/>
            <a:ext cx="3858768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2231136"/>
            <a:ext cx="3602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Job queue (SQS/Redis)
Autoscaling inference pods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10128"/>
            <a:ext cx="3520440" cy="1115568"/>
          </a:xfrm>
          <a:prstGeom prst="rect">
            <a:avLst/>
          </a:prstGeom>
          <a:solidFill>
            <a:srgbClr val="E6ECF4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310128"/>
            <a:ext cx="73152" cy="111556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419856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🔌  LLM provider outage
(API timeout)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3310128"/>
            <a:ext cx="3886200" cy="1115568"/>
          </a:xfrm>
          <a:prstGeom prst="rect">
            <a:avLst/>
          </a:prstGeom>
          <a:solidFill>
            <a:srgbClr val="E6ECF4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2231" y="3419856"/>
            <a:ext cx="3630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Retry 3x with exponential backoff
Fallback to Sonnet if Opus 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310128"/>
            <a:ext cx="3858768" cy="1115568"/>
          </a:xfrm>
          <a:prstGeom prst="rect">
            <a:avLst/>
          </a:prstGeom>
          <a:solidFill>
            <a:srgbClr val="E6ECF4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3419856"/>
            <a:ext cx="3602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Multi-provider fallback
Circuit breaker pattern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98848"/>
            <a:ext cx="3520440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498848"/>
            <a:ext cx="73152" cy="111556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608576"/>
            <a:ext cx="3264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☠️  Hallucinated citation
risk to pass through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4498848"/>
            <a:ext cx="3886200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2231" y="4608576"/>
            <a:ext cx="3630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Agent ④ blocks output hard
Zero exceptions allowed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498848"/>
            <a:ext cx="3858768" cy="1115568"/>
          </a:xfrm>
          <a:prstGeom prst="rect">
            <a:avLst/>
          </a:prstGeom>
          <a:solidFill>
            <a:srgbClr val="F3F6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1" y="4608576"/>
            <a:ext cx="3602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Hard gate: 100% citation verified
before any output emitted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Monitoring Metrics (SLA Targets)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80760"/>
            <a:ext cx="2194560" cy="621792"/>
          </a:xfrm>
          <a:prstGeom prst="rect">
            <a:avLst/>
          </a:prstGeom>
          <a:solidFill>
            <a:srgbClr val="F3F6FA"/>
          </a:solidFill>
          <a:ln w="1524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6108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p99 latency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6345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&lt; 3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6080760"/>
            <a:ext cx="2194560" cy="621792"/>
          </a:xfrm>
          <a:prstGeom prst="rect">
            <a:avLst/>
          </a:prstGeom>
          <a:solidFill>
            <a:srgbClr val="F3F6FA"/>
          </a:solidFill>
          <a:ln w="1524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6108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Hallucination 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9776" y="6345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&lt; 5% / 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74336" y="6080760"/>
            <a:ext cx="2194560" cy="621792"/>
          </a:xfrm>
          <a:prstGeom prst="rect">
            <a:avLst/>
          </a:prstGeom>
          <a:solidFill>
            <a:srgbClr val="F3F6FA"/>
          </a:solidFill>
          <a:ln w="1524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4064" y="6108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HITL queue depth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4064" y="6345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&lt;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78624" y="6080760"/>
            <a:ext cx="2194560" cy="621792"/>
          </a:xfrm>
          <a:prstGeom prst="rect">
            <a:avLst/>
          </a:prstGeom>
          <a:solidFill>
            <a:srgbClr val="F3F6FA"/>
          </a:solidFill>
          <a:ln w="1524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88352" y="6108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Cost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6345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&lt; $6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82912" y="6080760"/>
            <a:ext cx="2194560" cy="621792"/>
          </a:xfrm>
          <a:prstGeom prst="rect">
            <a:avLst/>
          </a:prstGeom>
          <a:solidFill>
            <a:srgbClr val="F3F6FA"/>
          </a:solidFill>
          <a:ln w="1524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61081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Cache hit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6345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E9A"/>
                </a:solidFill>
                <a:latin typeface="Calibri"/>
              </a:rPr>
              <a:t>&gt; 25%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ROI Analysis: Mỗi Đồng Bỏ Vào Tạo Ra 3–6 Đồng Giá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Actual numbers — không phải optimistic projections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577840" cy="3547872"/>
          </a:xfrm>
          <a:prstGeom prst="rect">
            <a:avLst/>
          </a:prstGeom>
          <a:solidFill>
            <a:srgbClr val="F3F6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5577840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0934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❌  TRƯỚC KHI CÓ LexAI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48840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✗  Junior associate: $300/hr × 5 hrs /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79192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✗  Labor cost: $1,500 /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209544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✗  660 contracts / month = $990,000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739896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✗  Risk detection rate: phụ thuộc vào human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270248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✗  Hallucination risk: luôn hiện hữu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72768"/>
            <a:ext cx="5577840" cy="3547872"/>
          </a:xfrm>
          <a:prstGeom prst="rect">
            <a:avLst/>
          </a:prstGeom>
          <a:solidFill>
            <a:srgbClr val="F3F6FA"/>
          </a:solidFill>
          <a:ln w="254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72768"/>
            <a:ext cx="5577840" cy="47548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60934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✅  SAU KHI CÓ LexAI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148840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✓  LexAI fee: $150 / contract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679192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✓  Actual COGS: $3.53 /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209544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✓  660 contracts / month = $99,000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739896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✓  Risk detection rate: 100% consistent (Playbook)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270248"/>
            <a:ext cx="5257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✓  Hallucination risk: zero — hard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017520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8A1A"/>
                </a:solidFill>
                <a:latin typeface="Calibri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8" y="1572768"/>
            <a:ext cx="25400" cy="35478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76672"/>
            <a:ext cx="11430000" cy="1261872"/>
          </a:xfrm>
          <a:prstGeom prst="rect">
            <a:avLst/>
          </a:prstGeom>
          <a:solidFill>
            <a:srgbClr val="0D1B2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8AA"/>
                </a:solidFill>
                <a:latin typeface="Calibri"/>
              </a:rPr>
              <a:t>Tiết kiệm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1A"/>
                </a:solidFill>
                <a:latin typeface="Calibri"/>
              </a:rPr>
              <a:t>~$742,500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5458968"/>
            <a:ext cx="12700" cy="960120"/>
          </a:xfrm>
          <a:prstGeom prst="rect">
            <a:avLst/>
          </a:prstGeom>
          <a:solidFill>
            <a:srgbClr val="8A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8AA"/>
                </a:solidFill>
                <a:latin typeface="Calibri"/>
              </a:rPr>
              <a:t>Payback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580644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1A"/>
                </a:solidFill>
                <a:latin typeface="Calibri"/>
              </a:rPr>
              <a:t>4–8 months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5458968"/>
            <a:ext cx="12700" cy="960120"/>
          </a:xfrm>
          <a:prstGeom prst="rect">
            <a:avLst/>
          </a:prstGeom>
          <a:solidFill>
            <a:srgbClr val="8A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8AA"/>
                </a:solidFill>
                <a:latin typeface="Calibri"/>
              </a:rPr>
              <a:t>Customer 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580644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1A"/>
                </a:solidFill>
                <a:latin typeface="Calibri"/>
              </a:rPr>
              <a:t>3–6x / Year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704" y="5458968"/>
            <a:ext cx="12700" cy="960120"/>
          </a:xfrm>
          <a:prstGeom prst="rect">
            <a:avLst/>
          </a:prstGeom>
          <a:solidFill>
            <a:srgbClr val="8A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8AA"/>
                </a:solidFill>
                <a:latin typeface="Calibri"/>
              </a:rPr>
              <a:t>Gross margin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5806440"/>
            <a:ext cx="2560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1A"/>
                </a:solidFill>
                <a:latin typeface="Calibri"/>
              </a:rPr>
              <a:t>~42x / 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Competitive Advantage: 3-Layer Moat Khó Sao Chép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Mỗi layer độc lập — cùng nhau tạo rào cản không thể vượt qua nhanh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5349240" cy="4709160"/>
          </a:xfrm>
          <a:prstGeom prst="rect">
            <a:avLst/>
          </a:prstGeom>
          <a:solidFill>
            <a:srgbClr val="F3F6FA"/>
          </a:solidFill>
          <a:ln w="1270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8AA"/>
                </a:solidFill>
                <a:latin typeface="Calibri"/>
              </a:rPr>
              <a:t>LEGAL SAFETY  HIGH  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34456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8AA"/>
                </a:solidFill>
                <a:latin typeface="Calibri"/>
              </a:rPr>
              <a:t>▼ 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261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8AA"/>
                </a:solidFill>
                <a:latin typeface="Calibri"/>
              </a:rPr>
              <a:t>◄ 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7261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SPECIALIZED  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0380" y="1865376"/>
            <a:ext cx="12700" cy="412394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3927348"/>
            <a:ext cx="5129784" cy="1270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3036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8AA"/>
                </a:solidFill>
                <a:latin typeface="Calibri"/>
              </a:rPr>
              <a:t>ChatGPT / 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673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6E9A"/>
                </a:solidFill>
                <a:latin typeface="Calibri"/>
              </a:rPr>
              <a:t>Harvey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24528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6E9A"/>
                </a:solidFill>
                <a:latin typeface="Calibri"/>
              </a:rPr>
              <a:t>CoCounsel
Spellbook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85032" y="3035808"/>
            <a:ext cx="219456" cy="219456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3145536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A1A"/>
                </a:solidFill>
                <a:latin typeface="Calibri"/>
              </a:rPr>
              <a:t>✦  LexAI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72768"/>
            <a:ext cx="5833872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572768"/>
            <a:ext cx="91440" cy="148132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700784"/>
            <a:ext cx="5532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8A1A"/>
                </a:solidFill>
                <a:latin typeface="Calibri"/>
              </a:rPr>
              <a:t>🔒  Layer 1 — Technical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5532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Hard citation gate integrated với legal database chính thống. Không competitor nào có. Patent-pending potential.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172968"/>
            <a:ext cx="5833872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172968"/>
            <a:ext cx="91440" cy="1481328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300984"/>
            <a:ext cx="5532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E9A"/>
                </a:solidFill>
                <a:latin typeface="Calibri"/>
              </a:rPr>
              <a:t>📊  Layer 2 — Data Moat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721608"/>
            <a:ext cx="5532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Sau 10,000 contracts, risk scoring model theo Playbook của từng firm không ai tái tạo được từ đầu.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773168"/>
            <a:ext cx="5833872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4773168"/>
            <a:ext cx="91440" cy="148132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901184"/>
            <a:ext cx="5532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9E5C"/>
                </a:solidFill>
                <a:latin typeface="Calibri"/>
              </a:rPr>
              <a:t>🛡️  Layer 3 — Compliance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321808"/>
            <a:ext cx="5532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Certification xử lý sensitive data và hybrid deployment experience là rào cản cao với mọi new entrant.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18-Month Roadmap: Từ Prototype Đến Market Leader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Mỗi milestone có deliverable rõ ràng — không phải vague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10881360" cy="91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5780" y="2354580"/>
            <a:ext cx="228600" cy="2286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8288" y="18653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9E5C"/>
                </a:solidFill>
                <a:latin typeface="Calibri"/>
              </a:rPr>
              <a:t>Month 1–2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64592" y="2761488"/>
            <a:ext cx="1609344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109728" y="287121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9E5C"/>
                </a:solidFill>
                <a:latin typeface="Calibri"/>
              </a:rPr>
              <a:t>Build
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09728" y="3383280"/>
            <a:ext cx="1499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E4E62"/>
                </a:solidFill>
                <a:latin typeface="Calibri"/>
              </a:rPr>
              <a:t>Complete 4-agent
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19679" y="2354580"/>
            <a:ext cx="228600" cy="22860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5611" y="18653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E9A"/>
                </a:solidFill>
                <a:latin typeface="Calibri"/>
              </a:rPr>
              <a:t>Month 3–4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9307" y="2761488"/>
            <a:ext cx="1609344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4171" y="287121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6E9A"/>
                </a:solidFill>
                <a:latin typeface="Calibri"/>
              </a:rPr>
              <a:t>Enterprise
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4171" y="3383280"/>
            <a:ext cx="1499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E4E62"/>
                </a:solidFill>
                <a:latin typeface="Calibri"/>
              </a:rPr>
              <a:t>5 real contracts
1 law firm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13578" y="2354580"/>
            <a:ext cx="228600" cy="22860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9510" y="18653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8A1A"/>
                </a:solidFill>
                <a:latin typeface="Calibri"/>
              </a:rPr>
              <a:t>Month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3206" y="2761488"/>
            <a:ext cx="1609344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8070" y="287121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A1A"/>
                </a:solidFill>
                <a:latin typeface="Calibri"/>
              </a:rPr>
              <a:t>Official
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070" y="3383280"/>
            <a:ext cx="1499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E4E62"/>
                </a:solidFill>
                <a:latin typeface="Calibri"/>
              </a:rPr>
              <a:t>5 pilot
law firms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07477" y="2354580"/>
            <a:ext cx="228600" cy="22860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3409" y="18653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8A1A"/>
                </a:solidFill>
                <a:latin typeface="Calibri"/>
              </a:rPr>
              <a:t>Month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7105" y="2761488"/>
            <a:ext cx="1609344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1969" y="287121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8A1A"/>
                </a:solidFill>
                <a:latin typeface="Calibri"/>
              </a:rPr>
              <a:t>Scale
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1969" y="3383280"/>
            <a:ext cx="1499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E4E62"/>
                </a:solidFill>
                <a:latin typeface="Calibri"/>
              </a:rPr>
              <a:t>20 firms
$250K / 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07140" y="235458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63072" y="186537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Month 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16768" y="2761488"/>
            <a:ext cx="1609344" cy="1481328"/>
          </a:xfrm>
          <a:prstGeom prst="rect">
            <a:avLst/>
          </a:prstGeom>
          <a:solidFill>
            <a:srgbClr val="F3F6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71632" y="287121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Series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3383280"/>
            <a:ext cx="1499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E4E62"/>
                </a:solidFill>
                <a:latin typeface="Calibri"/>
              </a:rPr>
              <a:t>100 firms
$1.5M / 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36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3 Technical Milestones — Priority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93792"/>
            <a:ext cx="3749039" cy="1444752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2669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9E5C"/>
                </a:solidFill>
                <a:latin typeface="Calibri"/>
              </a:rPr>
              <a:t>Week 1–2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61441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Build hallucination eval harness — measure false positive rate trước khi ship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193792"/>
            <a:ext cx="3749039" cy="1444752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52669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9A"/>
                </a:solidFill>
                <a:latin typeface="Calibri"/>
              </a:rPr>
              <a:t>Week 3–4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561441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Integrate Legal API sandbox — validate citation verification hard gate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5193792"/>
            <a:ext cx="3749039" cy="1444752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52669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A1A"/>
                </a:solidFill>
                <a:latin typeface="Calibri"/>
              </a:rPr>
              <a:t>Month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61441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Deploy MVP to 1 pilot firm với 5 real contracts — collect ground truth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Investment Ask: $250,000 Seed 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Biến prototype thành infrastructure — và infrastructure thành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4480560" cy="1874519"/>
          </a:xfrm>
          <a:prstGeom prst="rect">
            <a:avLst/>
          </a:prstGeom>
          <a:solidFill>
            <a:srgbClr val="0D1B2A"/>
          </a:solidFill>
          <a:ln w="254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00784"/>
            <a:ext cx="4297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B88A1A"/>
                </a:solidFill>
                <a:latin typeface="Calibri"/>
              </a:rPr>
              <a:t>$250,000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USD  —  Seed 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47872"/>
            <a:ext cx="5577840" cy="1207008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547872"/>
            <a:ext cx="91440" cy="1207008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6E9A"/>
                </a:solidFill>
                <a:latin typeface="Calibri"/>
              </a:rPr>
              <a:t>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65760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Engineering &amp; Infrastructure  —  $120,000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59936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Complete 4-agent pipeline
Hybrid on-prem / private cloud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5577840" cy="1207008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91440" cy="1207008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9320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9E5C"/>
                </a:solidFill>
                <a:latin typeface="Calibri"/>
              </a:rPr>
              <a:t>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932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Legal API Integration  —  $60,000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495544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Access fees &amp; integration
Citation verification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547872"/>
            <a:ext cx="5577840" cy="1207008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547872"/>
            <a:ext cx="91440" cy="120700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88A1A"/>
                </a:solidFill>
                <a:latin typeface="Calibri"/>
              </a:rPr>
              <a:t>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657600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Enterprise Pilot  —  $45,000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059936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3-month operating cost
Support &amp; product iteration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983480"/>
            <a:ext cx="5577840" cy="1207008"/>
          </a:xfrm>
          <a:prstGeom prst="rect">
            <a:avLst/>
          </a:prstGeom>
          <a:solidFill>
            <a:srgbClr val="F3F6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983480"/>
            <a:ext cx="91440" cy="1207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93208"/>
            <a:ext cx="658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  <a:latin typeface="Calibri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93208"/>
            <a:ext cx="4498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Compliance &amp; Security  —  $25,000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495544"/>
            <a:ext cx="44988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Initial security audit
Data handling legal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1572768"/>
            <a:ext cx="6858000" cy="1874519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6459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Investor Commitments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057400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✓  Month 2:  Product live với 1 pilot 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2395728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✓  Month 4:  Real revenue từ 5 law firms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734056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✓  Month 8:  Monthly operating breakeven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072384"/>
            <a:ext cx="6537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✓  Month 12:  Series A ready — target $2–5M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84048"/>
            <a:ext cx="91440" cy="80467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9184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5 Lý Do LexAI Là Khoản Đầu Tư Đáng Cân Nhắc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0789920" cy="2286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338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A98AA"/>
                </a:solidFill>
                <a:latin typeface="Calibri"/>
              </a:rPr>
              <a:t>Không phải một trong năm — cả năm phải đúng cùng lúc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3767328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1A9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572768"/>
            <a:ext cx="640080" cy="64008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72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6642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9E5C"/>
                </a:solidFill>
                <a:latin typeface="Calibri"/>
              </a:rPr>
              <a:t>Market size đủ lớn, pain đủ thật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58568"/>
            <a:ext cx="3474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$8B contract review segment. $166M / năm wasted tại mỗi mid-size law firm. Đây là real cost đang xảy ra hôm nay — không phải hypothesis.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572768"/>
            <a:ext cx="3767328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572768"/>
            <a:ext cx="640080" cy="64008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72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6642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9A"/>
                </a:solidFill>
                <a:latin typeface="Calibri"/>
              </a:rPr>
              <a:t>Technical solution khó replicate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258568"/>
            <a:ext cx="3474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Hard citation gate + data sovereignty + multi-agent pipeline. Ba yếu tố đồng thời — không competitor nào đang có cả ba.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1572768"/>
            <a:ext cx="3767328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1572768"/>
            <a:ext cx="640080" cy="64008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572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16642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A1A"/>
                </a:solidFill>
                <a:latin typeface="Calibri"/>
              </a:rPr>
              <a:t>Unit economics xuất sắc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258568"/>
            <a:ext cx="3474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$3.53 COGS → $150 revenue → ~42x gross margin. Foundation để scale mà không bị crushed bởi operating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931920"/>
            <a:ext cx="3767328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931920"/>
            <a:ext cx="6400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023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Regulatory timing hoàn hảo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617720"/>
            <a:ext cx="3474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AI Act và equivalents có hiệu lực — AI audit trail sẽ không còn optional. LexAI built to that standard từ day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3931920"/>
            <a:ext cx="3767328" cy="2194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9392" y="3931920"/>
            <a:ext cx="640080" cy="64008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4023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8A1A"/>
                </a:solidFill>
                <a:latin typeface="Calibri"/>
              </a:rPr>
              <a:t>Data moat ngày càng rộng hơn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3984" y="4617720"/>
            <a:ext cx="3474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E4E62"/>
                </a:solidFill>
                <a:latin typeface="Calibri"/>
              </a:rPr>
              <a:t>Mỗi contract processed là 1 data point. Sau 10,000 contracts, risk scoring model của LexAI không ai tái tạo được.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5669280" cy="65288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51206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B88A1A"/>
                </a:solidFill>
                <a:latin typeface="Calibri"/>
              </a:rPr>
              <a:t>⚖  LexAI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FFFF"/>
                </a:solidFill>
                <a:latin typeface="Calibri"/>
              </a:rPr>
              <a:t>Legal Contract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4937760" cy="25400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BECC"/>
                </a:solidFill>
                <a:latin typeface="Calibri"/>
              </a:rPr>
              <a:t>"Khi legal industry cần AI
đủ đáng tin để trust —
LexAI là answer duy nhất
không trade-off safety lấy speed."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8AA"/>
                </a:solidFill>
                <a:latin typeface="Calibri"/>
              </a:rPr>
              <a:t>2026  ·  LexAI  ·  Seed 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502920"/>
            <a:ext cx="5897880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5943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$23 Tỷ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1247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8AA"/>
                </a:solidFill>
                <a:latin typeface="Calibri"/>
              </a:rPr>
              <a:t>Total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673352"/>
            <a:ext cx="5897880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6479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~42x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2951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8AA"/>
                </a:solidFill>
                <a:latin typeface="Calibri"/>
              </a:rPr>
              <a:t>Gross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43784"/>
            <a:ext cx="5897880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93522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3–6x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6557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8AA"/>
                </a:solidFill>
                <a:latin typeface="Calibri"/>
              </a:rPr>
              <a:t>Customer ROI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4014216"/>
            <a:ext cx="5897880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10565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4–8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6360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8AA"/>
                </a:solidFill>
                <a:latin typeface="Calibri"/>
              </a:rPr>
              <a:t>Payback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5184648"/>
            <a:ext cx="5897880" cy="1051560"/>
          </a:xfrm>
          <a:prstGeom prst="rect">
            <a:avLst/>
          </a:prstGeom>
          <a:solidFill>
            <a:srgbClr val="F3F6FA"/>
          </a:solidFill>
          <a:ln w="12700">
            <a:solidFill>
              <a:srgbClr val="B8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527608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  <a:latin typeface="Calibri"/>
              </a:rPr>
              <a:t>$250K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806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8AA"/>
                </a:solidFill>
                <a:latin typeface="Calibri"/>
              </a:rPr>
              <a:t>Seed 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5943600"/>
            <a:ext cx="5897880" cy="749808"/>
          </a:xfrm>
          <a:prstGeom prst="rect">
            <a:avLst/>
          </a:prstGeom>
          <a:solidFill>
            <a:srgbClr val="B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59710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Next Step: Đề nghị buổi technical discussion &amp; pilot plan trong tuần tới.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63093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Chúng tôi có product. Chúng tôi có architecture. Chúng tôi cần đúng partner.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8AA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